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a81fde2f8d42dc" /><Relationship Type="http://schemas.openxmlformats.org/officeDocument/2006/relationships/extended-properties" Target="/docProps/app.xml" Id="Ree63df7b48d94b2e" /><Relationship Type="http://schemas.openxmlformats.org/officeDocument/2006/relationships/officeDocument" Target="/ppt/presentation.xml" Id="Ra73d223063d8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9148e324a4c46"/>
  </p:sldMasterIdLst>
  <p:notesMasterIdLst>
    <p:notesMasterId xmlns:r="http://schemas.openxmlformats.org/officeDocument/2006/relationships" r:id="Rbbcd928288514ac8"/>
  </p:notesMasterIdLst>
  <p:sldIdLst>
    <p:sldId xmlns:r="http://schemas.openxmlformats.org/officeDocument/2006/relationships" id="256" r:id="Rcc61e00b93e642b3"/>
    <p:sldId xmlns:r="http://schemas.openxmlformats.org/officeDocument/2006/relationships" id="257" r:id="Rb8a238c07e6f4c44"/>
    <p:sldId xmlns:r="http://schemas.openxmlformats.org/officeDocument/2006/relationships" id="258" r:id="R8a97597db6fe44ac"/>
    <p:sldId xmlns:r="http://schemas.openxmlformats.org/officeDocument/2006/relationships" id="259" r:id="Ra64d3d33d8a14eb3"/>
    <p:sldId xmlns:r="http://schemas.openxmlformats.org/officeDocument/2006/relationships" id="260" r:id="Rac2242b4db9a42d8"/>
    <p:sldId xmlns:r="http://schemas.openxmlformats.org/officeDocument/2006/relationships" id="261" r:id="R8e2ae0d8fa7046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ffb87dc80246cd" /><Relationship Type="http://schemas.openxmlformats.org/officeDocument/2006/relationships/slideMaster" Target="/ppt/slideMasters/slideMaster1.xml" Id="R2099148e324a4c46" /><Relationship Type="http://schemas.openxmlformats.org/officeDocument/2006/relationships/notesMaster" Target="/ppt/notesMasters/notesMaster1.xml" Id="Rbbcd928288514ac8" /><Relationship Type="http://schemas.openxmlformats.org/officeDocument/2006/relationships/presProps" Target="/ppt/presProps.xml" Id="R913cb5e1cad04955" /><Relationship Type="http://schemas.openxmlformats.org/officeDocument/2006/relationships/tableStyles" Target="/ppt/tableStyles.xml" Id="R832d05ad956544f8" /><Relationship Type="http://schemas.openxmlformats.org/officeDocument/2006/relationships/slide" Target="/ppt/slides/slide1.xml" Id="Rcc61e00b93e642b3" /><Relationship Type="http://schemas.openxmlformats.org/officeDocument/2006/relationships/slide" Target="/ppt/slides/slide2.xml" Id="Rb8a238c07e6f4c44" /><Relationship Type="http://schemas.openxmlformats.org/officeDocument/2006/relationships/slide" Target="/ppt/slides/slide3.xml" Id="R8a97597db6fe44ac" /><Relationship Type="http://schemas.openxmlformats.org/officeDocument/2006/relationships/slide" Target="/ppt/slides/slide4.xml" Id="Ra64d3d33d8a14eb3" /><Relationship Type="http://schemas.openxmlformats.org/officeDocument/2006/relationships/slide" Target="/ppt/slides/slide5.xml" Id="Rac2242b4db9a42d8" /><Relationship Type="http://schemas.openxmlformats.org/officeDocument/2006/relationships/slide" Target="/ppt/slides/slide6.xml" Id="R8e2ae0d8fa70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6fcfa13b2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12460f8afc40c6" /><Relationship Type="http://schemas.openxmlformats.org/officeDocument/2006/relationships/notesMaster" Target="/ppt/notesMasters/notesMaster1.xml" Id="R6aa41bd3a67841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be9d6f71ba4bc3" /><Relationship Type="http://schemas.openxmlformats.org/officeDocument/2006/relationships/notesMaster" Target="/ppt/notesMasters/notesMaster1.xml" Id="R221756074ea34f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9db1f2cb724952" /><Relationship Type="http://schemas.openxmlformats.org/officeDocument/2006/relationships/notesMaster" Target="/ppt/notesMasters/notesMaster1.xml" Id="R79ba6ef33c60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a6c87093ec48a0" /><Relationship Type="http://schemas.openxmlformats.org/officeDocument/2006/relationships/notesMaster" Target="/ppt/notesMasters/notesMaster1.xml" Id="Re3a4356e6915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ed8055d2114898" /><Relationship Type="http://schemas.openxmlformats.org/officeDocument/2006/relationships/notesMaster" Target="/ppt/notesMasters/notesMaster1.xml" Id="R88b616af8576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93498164864c95" /><Relationship Type="http://schemas.openxmlformats.org/officeDocument/2006/relationships/notesMaster" Target="/ppt/notesMasters/notesMaster1.xml" Id="Rdc0fc9f31fb94e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assignment deck. Product concept and prototype assumptions use the supplied Volvo Cars UK configurator brief. No external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supplied by the author. The customer journey steps summarise the existing configurator flow in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groups and design principle come from the supplied product brief. Sustainability references are framed as customer interests, not quantified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behaviour reflects the prototype implementation and proposed guardrails. No external data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described flow is demonstrated in the clickable prototype. Example customer language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are expected outcomes to validate in an MVP. Success signals are proposed product metrics, not historical performance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58ee03ed2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7ffb7210344339" /><Relationship Type="http://schemas.openxmlformats.org/officeDocument/2006/relationships/slideLayout" Target="/ppt/slideLayouts/slideLayout1.xml" Id="Rbb21efc3e91e49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21efc3e91e49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2896c9e65450a" /><Relationship Type="http://schemas.openxmlformats.org/officeDocument/2006/relationships/notesSlide" Target="/ppt/notesSlides/notesSlide1.xml" Id="R8b3280a598dc49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921738f0b4ee7" /><Relationship Type="http://schemas.openxmlformats.org/officeDocument/2006/relationships/notesSlide" Target="/ppt/notesSlides/notesSlide2.xml" Id="R3e32285daea343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16dad0d1d45d7" /><Relationship Type="http://schemas.openxmlformats.org/officeDocument/2006/relationships/notesSlide" Target="/ppt/notesSlides/notesSlide3.xml" Id="Rdf0dbd4a263d4c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1f3b7673a44ca" /><Relationship Type="http://schemas.openxmlformats.org/officeDocument/2006/relationships/notesSlide" Target="/ppt/notesSlides/notesSlide4.xml" Id="Ra33cdcd98c9544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c339428934831" /><Relationship Type="http://schemas.openxmlformats.org/officeDocument/2006/relationships/notesSlide" Target="/ppt/notesSlides/notesSlide5.xml" Id="R4cdef9f5d7dc4b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95e5a7bd94811" /><Relationship Type="http://schemas.openxmlformats.org/officeDocument/2006/relationships/notesSlide" Target="/ppt/notesSlides/notesSlide6.xml" Id="R742a97c4d75c45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FA80D-3905-4C79-B42A-FFF2D62C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A0D17-B517-4101-A3D3-FB019255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8F7BB-DC67-4E1F-9686-307B2406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952500"/>
            <a:ext cx="2286000" cy="4286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A9C9C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D8639-EF89-4DCC-9497-F7BB051E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PRODUCT MANAGEMENT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7FF90-FA2A-4B8F-9F16-C7EA332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calmer way to choose and configure a Volvo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61171-B757-44D1-8818-6EA6EE8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AI-guided discovery and configuration inside Volvo Cars 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0A93B-9C66-4E5D-8C5E-B07B748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0D87-FB8A-4F42-899E-CD39AA4A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08FFB-EE92-4787-9DD5-D489A436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One product. One P0 problem. One AI enhancement.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59938-CCA0-4766-B18E-F06DC962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00200"/>
            <a:ext cx="1762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GUIDED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1540165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27499-9491-43E2-8541-933BDA42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E649A-4860-4D00-8F32-555DED16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P0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C2101-D3FB-4183-8629-245856DD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Customers face a high-stakes choice before they know which Volvo fits their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645F7-9E67-4B9C-B029-CE92172E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1D564-E4EC-4E44-8F58-2013F214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current configurator starts with fields. Customers start with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BBC9A-E518-4DB5-84D8-0CFA3D3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191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must make model, powertrain, trim, colour, wheel, package and finance decisions before they can assess whether the car suits them personally or financially.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D9E7D-0637-4C2B-9CBC-56053EF3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A8F81-2690-48DD-98C4-977DFD1C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39E60-E178-4D35-A860-5643A067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7C52D-4C02-4E4E-866D-13E4537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C1B9B-A17C-4E49-B177-33774548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8440B-F210-4467-8A11-DF46CED0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Powertrain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3FDF4-A4C6-4591-87EB-29FC0EBB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3EA4E-E934-4CB8-85DE-D327891A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99336-14F5-43A2-BD28-5B42E214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9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8CDBA-047C-484F-840A-047A5625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2359F-73D2-46FD-BC77-823A086D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D785F-48F3-4237-A7DB-39F95D9F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81B41-1CAA-4598-834F-2E6311BA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Result: decision overload, repeated back-and-forth, and abandonment before retailer handoff.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F8B9E-4F29-4627-95DE-ED7BE2AD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944958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D6E80-1228-4047-A69C-2061D1D2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DD89C-8266-406B-90EF-304D7B31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Who the assistant serves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936F2-0414-4CF8-93CA-C951D4F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Premium Volvo customers want confident guidance without a sales-heavy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D75D8-668E-492A-8FA2-052B30DA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AAD8C-A40A-4891-93E0-76054021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85F8E-2135-4186-9940-367145F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Premium buyers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50830-1291-46E6-B34C-C0BABB75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Expect transparent guidance before a high-value purchase.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E1D33-ED92-4745-B6F4-68491DB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18FD8-D397-4C09-9A59-BEFB6F4C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43A97-4210-42B5-9D67-2CC501BC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Volvo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924D7-6747-4BBF-8026-2168517E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Want to move into electric driving while retaining familiar safety and comfort.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06B79-FC52-4183-9300-236F4C42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73726-98AD-4696-A9CE-AD8AE93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2ED9C-93ED-4F2B-89E4-0A9D434D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Families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DBA0B-25D6-4757-8994-E8004B40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space and confidence without a feature-heavy decision process.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D5779-3B10-44DE-AEFD-26E8AD62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8DDA1-4F83-4825-B878-88E16A34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70242-CCB9-4B07-B1AD-260495C6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Sustainability-minded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DBF22-1AB2-423C-9A64-E2CF4DD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Assess electrification, charging practicality and energy 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997B4-9150-4F10-83F3-9A5D85E1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B1FF4-F8EE-4E9D-93B0-AFA1912E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32B88-C064-4D26-8C8C-BA55AEC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 explorers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40714-A089-4637-A5FE-C02EFD8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help comparing purchase, finance and lease routes.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E4A92-AA5F-4FB0-84CF-50176BB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79B07-C6BB-4FC0-82A6-4BB528C3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Design principle: guidance should feel calm, personal and clear, reflecting Volvo’s Scandinavian design values.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7FCC1-0BC6-4A0B-9E58-244854ED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954669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D9F64-CD49-47A9-AD36-047B4E3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DD7F6-7749-471A-A5F4-EB1F316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AI-guided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0F386-5B3D-4F38-A049-FFEECF75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conversational layer turns natural-language needs into verified Volvo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A7778-A0C1-41DD-A0A7-864F6B64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685F5-7164-4EF7-8E9D-D8DA733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182B0-E7DF-4CEF-B3CE-99AAA2C0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6A1AC-345C-48D2-8B8A-630257B7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316F5-8AD8-4373-88FB-2B0FDC4C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7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Captures family size, driving needs, budget, design taste and electrification preferences.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C8F34-8FDE-458D-A2DA-8F46DDE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4DD02-E96C-4107-817B-C39DB0C6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85569-B323-4BA4-A3A5-03523AB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Recommend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C4694-1781-4C8C-A01A-88EFE561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rPr>
              <a:t>Matches stated needs to catalogue data, explains trade-offs and asks only useful follow-up questions.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FB48F-A8C0-454C-9645-6D311D53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0C8BC-DB6D-4BD8-838E-4461F20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6384A-99C9-43B4-87EA-28B9663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DD8B3-D13F-4F09-BC15-B036030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Applies trim, colour, wheel and package choices while preserving customer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9327A-174E-4944-BBD6-97F6277E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C767F-FCBC-45CA-A113-4299DD92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D5BD1-D18F-4DFF-9F47-ADFFFF9A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D632E-E161-47CB-ABCF-32E69A7A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Moves the customer to finance, delivery and retailer handoff when they are ready.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2A374-13CD-4EA4-A788-58AE9F5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3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assistant uses verified catalogue data and says when information is unavailable. It never invents price, specifications, finance eligibility or delivery details.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DAAAD-2E74-4F78-975E-C0E96F48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653763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ABDFD-E191-4E7C-9DAC-F753AD4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5E01F-F1AE-49EA-88C8-2990A75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29891-DDF3-47BD-B5B1-F89A36A9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moves from a vague need to a configured Volvo in one guided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308EF-5DA1-468A-A12E-56560F68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13B99-31A4-4B16-9F2C-4A9E3A48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5CA3B-69D7-4F99-BEE3-7D5B8C45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25BB8-FF51-48A0-8AFA-19B366D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EA77-44BA-4D0B-9B26-23DB795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“Family of five, city driving, cost-conscious.”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E259A-379D-40A4-BD2B-977A3676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5B06C-983A-4DF7-8519-F5CD0B4E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F7DFD-EFFD-45CF-A78B-2747F509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Focused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E41FC-1699-4DE3-B61D-CDC772F0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Ask only for a missing detail that changes the shortlist.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382C6-A5FA-4AA8-B2C5-23734BE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5A845-3227-4D18-B7C1-14455468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FBF77-4E26-441E-AF70-B933005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Shortlist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04F1A-6012-478E-AF8F-AD0087C7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Compare suitable models with price, seats, range and charging.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987C3-DBF8-4F25-AE21-BAFBA34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2E029-75AD-4A6F-8F3D-F46A8B08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86726-BA15-4A21-B2BE-B2B29AEC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3B059-44AC-43E9-B63F-661831E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Choose model, then update colour, wheels or packages in chat.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55785-74E6-4412-A2E9-6A5A2D8F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02A04-1B22-4192-8A8F-B6A7CE02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F1293-C026-4A81-B74C-2E42EA78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B2F53-18B9-42E1-89EC-455A51DF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 to finance, delivery and retailer handoff.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DEED0-48DE-4820-B9E9-3D4473C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54784-12DC-4230-A5F1-B2AEBEC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2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 moment: “Take me to the next step” hides the full discovery chat and opens finance, delivery and retailer handoff. A compact order assistant remains available for contextual help.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36CCA-68FC-4D11-8F95-B45A1F1A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612502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C2569-243A-4B9F-9FD6-6F48398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A6AFE-FE8F-4FC0-A82E-0403AD5A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impact and MVP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C139-80FA-4DE9-9B1E-77A51B5E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The MVP aims to reduce decision effort while keeping every recommendation transparent.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326B3-63F2-4BAF-BB1B-936EAAE1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6E17-0C12-4E41-87B7-C749682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21EFA-784F-422A-8D81-7F0BF76A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2BE52-0D8F-43DD-9538-AAFA2C5D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6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faster route from lifestyle need to a confident shortlist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A0C36-5DC8-44C9-A5C9-54E2337C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F3392-9D95-49E0-AEDB-8BBCD8BA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Clearer trade-offs across price, seats, range and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05186-3605-4367-AD04-483AE536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B8413-67A5-49EC-B352-6750CC2F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calmer premium journey aligned with Scandinavian simplicity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ED17B-F910-46F1-9172-709C21E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 Cars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8A8BD-F9B3-4072-AC3E-678CA95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3A52E-63E9-4F99-87F0-8486C4C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3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completed configurator journeys and retailer enquiries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40F94-AA51-4006-9919-CA7977E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A4298-A180-4B8C-B7E7-1037497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385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Higher-quality retailer leads with needs and choices already captured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49D5F-D28B-4832-9F9E-6CFC6F62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19CDC-29B4-42F1-8C70-5DCE2CE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862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relevant discovery of electrified models and Volvo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7F205-51B6-4357-9696-D569DE57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EACF3-A9AB-4B2D-8906-1A7277B6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MVP success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22F36-DC98-422D-BA0E-B71EDD7E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Shortlist reached  •  model selected  •  configuration changed  •  next-step progression  •  retailer enquiry prepared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C9690-B54F-40EF-9F7A-89F280BE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308081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2026-09-06T19:22:01.0890000Z</dcterms:created>
  <dcterms:modified xsi:type="dcterms:W3CDTF">2026-09-06T19:22:01.0890000Z</dcterms:modified>
</coreProperties>
</file>