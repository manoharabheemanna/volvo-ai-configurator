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1547cdae9470f" /><Relationship Type="http://schemas.openxmlformats.org/officeDocument/2006/relationships/extended-properties" Target="/docProps/app.xml" Id="R858f69ca85ff4b91" /><Relationship Type="http://schemas.openxmlformats.org/officeDocument/2006/relationships/officeDocument" Target="/ppt/presentation.xml" Id="R58ca3e4b281d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6614633b974bb3"/>
  </p:sldMasterIdLst>
  <p:notesMasterIdLst>
    <p:notesMasterId xmlns:r="http://schemas.openxmlformats.org/officeDocument/2006/relationships" r:id="R3b8629b826c04314"/>
  </p:notesMasterIdLst>
  <p:sldIdLst>
    <p:sldId xmlns:r="http://schemas.openxmlformats.org/officeDocument/2006/relationships" id="256" r:id="R784c856227f4431b"/>
    <p:sldId xmlns:r="http://schemas.openxmlformats.org/officeDocument/2006/relationships" id="257" r:id="R02509ccfe5114ed9"/>
    <p:sldId xmlns:r="http://schemas.openxmlformats.org/officeDocument/2006/relationships" id="258" r:id="R63e33f7fd6da42f5"/>
    <p:sldId xmlns:r="http://schemas.openxmlformats.org/officeDocument/2006/relationships" id="259" r:id="R4b82bc30845146fe"/>
    <p:sldId xmlns:r="http://schemas.openxmlformats.org/officeDocument/2006/relationships" id="260" r:id="R6fedd46bf5294d7a"/>
    <p:sldId xmlns:r="http://schemas.openxmlformats.org/officeDocument/2006/relationships" id="261" r:id="R642476cbb82b4c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7495af66b1484e" /><Relationship Type="http://schemas.openxmlformats.org/officeDocument/2006/relationships/slideMaster" Target="/ppt/slideMasters/slideMaster1.xml" Id="R776614633b974bb3" /><Relationship Type="http://schemas.openxmlformats.org/officeDocument/2006/relationships/notesMaster" Target="/ppt/notesMasters/notesMaster1.xml" Id="R3b8629b826c04314" /><Relationship Type="http://schemas.openxmlformats.org/officeDocument/2006/relationships/presProps" Target="/ppt/presProps.xml" Id="Re93573768a9248d9" /><Relationship Type="http://schemas.openxmlformats.org/officeDocument/2006/relationships/tableStyles" Target="/ppt/tableStyles.xml" Id="R38551f1e109d49f6" /><Relationship Type="http://schemas.openxmlformats.org/officeDocument/2006/relationships/slide" Target="/ppt/slides/slide1.xml" Id="R784c856227f4431b" /><Relationship Type="http://schemas.openxmlformats.org/officeDocument/2006/relationships/slide" Target="/ppt/slides/slide2.xml" Id="R02509ccfe5114ed9" /><Relationship Type="http://schemas.openxmlformats.org/officeDocument/2006/relationships/slide" Target="/ppt/slides/slide3.xml" Id="R63e33f7fd6da42f5" /><Relationship Type="http://schemas.openxmlformats.org/officeDocument/2006/relationships/slide" Target="/ppt/slides/slide4.xml" Id="R4b82bc30845146fe" /><Relationship Type="http://schemas.openxmlformats.org/officeDocument/2006/relationships/slide" Target="/ppt/slides/slide5.xml" Id="R6fedd46bf5294d7a" /><Relationship Type="http://schemas.openxmlformats.org/officeDocument/2006/relationships/slide" Target="/ppt/slides/slide6.xml" Id="R642476cbb82b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32d09402c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e73207cb943e0" /><Relationship Type="http://schemas.openxmlformats.org/officeDocument/2006/relationships/notesMaster" Target="/ppt/notesMasters/notesMaster1.xml" Id="Rff72226aa1f541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4dc425a6f74eb7" /><Relationship Type="http://schemas.openxmlformats.org/officeDocument/2006/relationships/notesMaster" Target="/ppt/notesMasters/notesMaster1.xml" Id="R395e68390cb544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8a8f4d1854839" /><Relationship Type="http://schemas.openxmlformats.org/officeDocument/2006/relationships/notesMaster" Target="/ppt/notesMasters/notesMaster1.xml" Id="R2467a1243de8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77cb3814a04abd" /><Relationship Type="http://schemas.openxmlformats.org/officeDocument/2006/relationships/notesMaster" Target="/ppt/notesMasters/notesMaster1.xml" Id="R2153e68506ef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40c465e9a24ce8" /><Relationship Type="http://schemas.openxmlformats.org/officeDocument/2006/relationships/notesMaster" Target="/ppt/notesMasters/notesMaster1.xml" Id="R8b68d0ef89ea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aa851569354c24" /><Relationship Type="http://schemas.openxmlformats.org/officeDocument/2006/relationships/notesMaster" Target="/ppt/notesMasters/notesMaster1.xml" Id="Rafe744391f9e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assignment deck. Product concept and prototype assumptions use the supplied Volvo Cars UK configurator brief. No external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supplied by the author. The customer journey steps summarise the existing configurator flow in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groups and design principle come from the supplied product brief. Sustainability references are framed as customer interests, not quantified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behaviour reflects the prototype implementation and proposed guardrails. No external data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described flow is demonstrated in the clickable prototype. Example customer language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are expected outcomes to validate in an MVP. Success signals are proposed product metrics, not historical performance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cf13704b243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bf9ad9a3e248d5" /><Relationship Type="http://schemas.openxmlformats.org/officeDocument/2006/relationships/slideLayout" Target="/ppt/slideLayouts/slideLayout1.xml" Id="R7e8b52c76d28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8b52c76d28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ce798abf64dc1" /><Relationship Type="http://schemas.openxmlformats.org/officeDocument/2006/relationships/notesSlide" Target="/ppt/notesSlides/notesSlide1.xml" Id="R60dd5d9f1bd8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f462e24e645a1" /><Relationship Type="http://schemas.openxmlformats.org/officeDocument/2006/relationships/notesSlide" Target="/ppt/notesSlides/notesSlide2.xml" Id="Re4e15af0d61d41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e2756e8fb45ba" /><Relationship Type="http://schemas.openxmlformats.org/officeDocument/2006/relationships/notesSlide" Target="/ppt/notesSlides/notesSlide3.xml" Id="R7ca6ab10762f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2c1958bd34a31" /><Relationship Type="http://schemas.openxmlformats.org/officeDocument/2006/relationships/notesSlide" Target="/ppt/notesSlides/notesSlide4.xml" Id="R9e1ad7899d46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5d609602c4572" /><Relationship Type="http://schemas.openxmlformats.org/officeDocument/2006/relationships/notesSlide" Target="/ppt/notesSlides/notesSlide5.xml" Id="Rab2cf5b0dfc5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18e4971ae4ec8" /><Relationship Type="http://schemas.openxmlformats.org/officeDocument/2006/relationships/notesSlide" Target="/ppt/notesSlides/notesSlide6.xml" Id="R39fc25ef4f9c47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21793-A6DA-4526-8D3B-CC95E86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DC811-99D1-48BF-8AF6-6BE9A58D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26234-3FDB-4704-8E82-C2A89D50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52500"/>
            <a:ext cx="2286000" cy="4286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A9C9C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99C46-0AEE-4CAA-AB08-C404B84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PRODUCT MANAGEMENT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84178-6E06-40C7-94E8-539A772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calmer way to choose and configure a Volvo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5F501-4CB0-43F7-A184-3C2A717C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AI-guided discovery and configuration inside Volvo Cars 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4B7AA-2E4B-4D4D-BEA7-38204E8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3B8C9-356D-46AD-BF2C-7BFB71A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5BDE0-4982-4B4C-9883-D7CC2A27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One product. One P0 problem. One AI enhancement.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6DB33-B753-47AF-BA7F-95F39574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762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GUIDED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1715408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C6351-FDE1-4083-A266-899B2C83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1A6BA-BA03-46B5-A4F2-67CA934A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05FEE-E088-4216-8287-2B02D83E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Customers face a high-stakes choice before they know which Volvo fits their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E368E-9343-4316-AED8-FAC38BE3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9315B-37A7-45FA-BF28-A1407B9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current configurator starts with fields. Customers start with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975CE-3382-4B0C-B324-88C6B8D9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191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must make model, powertrain, trim, colour, wheel, package and finance decisions before they can assess whether the car suits them personally or financially.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881F2-05F4-4C50-89A2-F8E18F37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0022-F58F-461B-A1C4-3B3A69C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644C8-AA86-4C83-A1EA-759B905E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A8D00-6344-4D2C-A6DB-FA65C71E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AB72C-FC84-458D-A4BD-7E44EFA6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431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CFAD2-668F-40CE-9A6A-A4573B1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33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Powertrain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AE97A-FC06-420D-A5C7-0948868F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7B0C4-A6E0-4AC2-A6E5-37E4FB8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B69D5-CA80-4B3B-A46A-CAADDBBF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9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5ECE5-35F3-48C4-878C-B149D12D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E2ED5-78F0-40FB-BDFB-C63E18C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1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2E202-E679-42CF-8510-2B1D7949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97FE1-9749-49D1-AE19-CD0FDD8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Result: decision overload, repeated back-and-forth, and abandonment before retailer handoff.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5A7CB-FE06-4D9E-96E8-88AE583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302821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C9A75-B2C3-410C-9919-0E6D60FE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BEBB7-A1B7-40ED-9A31-2B8587B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Who the assistant serves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BAD43-235C-46E3-8211-521EE12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Premium Volvo customers want confident guidance without a sales-heavy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8CBE7-C36F-4AD5-A1BD-08059343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59258-1B36-4F9A-9FEC-0DE3B8B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A1A4E-8747-4F9E-8047-4589EA9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Premium buyers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FEF48-E338-44D3-8FDB-C27891E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Expect transparent guidance before a high-value purchase.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60F00-F4C5-4C41-BFDF-106488F8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5AFF7-7321-4409-9296-B7666B1E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B812C-AC84-4E2E-A49A-4D2334E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Volvo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81280-1C90-4880-9267-83250819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Want to move into electric driving while retaining familiar safety and comfort.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3E47D-B7CF-4E2B-8D12-EA017003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2EF22-7B6A-4558-AFDE-47D5DCD4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D84D8-9EC6-4AF5-BCA3-6F0FC3C5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Families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E19A7-D7D5-493F-A00A-D3C0ACE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space and confidence without a feature-heavy decision process.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E163F-5C5C-440B-93D0-C77BF4E8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78EF1-E72C-46C8-9020-0E8BDD66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9CD9A-DD90-4955-B14F-D174662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Sustainability-minded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61B9F-170C-4015-AD7B-9E0129E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Assess electrification, charging practicality and energy 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7FD40-D864-4895-998E-73F5EAAD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623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B0734-C4FA-4EC4-83D9-08233915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00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C4016-228B-4E26-A10D-D6FD2845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81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explorers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8BAE7-EDAB-48C3-8353-B8559CC5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62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Need help comparing purchase, finance and lease routes.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C234A-ED52-41CF-A7AC-76BF7544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0CC92-9498-485A-9EAF-3C13D35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Design principle: guidance should feel calm, personal and clear, reflecting Volvo’s Scandinavian design values.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BA795-7B4F-43A9-85D8-8E333EFE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296703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AEBBA-2EB9-4AF5-90F1-C313A41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72C59-D33D-4944-81F9-48E631D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AI-guided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810D3-825D-41B3-8284-7BA1422D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conversational layer turns natural-language needs into verified Volvo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E372A-E27A-44DC-BD53-BF26F1D4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EF083-79DC-43DF-8ACD-FCC3F24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55226-DE91-43A0-BD1E-1BA3C90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CDBFE-44D0-43F5-9C40-CCFCDEC4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17A08-51EA-459E-91B7-EB324021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7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Captures family size, driving needs, budget, design taste and electrification preferences.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14022-3A23-4FAC-A848-3C0B24C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5B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E849D-2296-4242-BA15-2C202B5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5B17F-7DD1-4AE4-B538-F661661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FD972-3EB3-4FAC-82FC-C0D5B71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7F0EF"/>
                </a:solidFill>
                <a:latin typeface="Helvetica Neue"/>
                <a:ea typeface="Helvetica Neue"/>
                <a:cs typeface="Helvetica Neue"/>
              </a:rPr>
              <a:t>Matches stated needs to catalogue data, explains trade-offs and asks only useful follow-up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C082C-EB4C-4822-8350-3524993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4701B-5D6D-41D9-875A-474A4427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24969-20ED-4BE1-B337-AFC66565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83C05-0E78-4743-B665-630EE45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Applies trim, colour, wheel and package choices while preserving customer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67B93-D6B2-4FCE-9C6C-79BF7F00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333625" cy="242887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5F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6236D-18D0-4260-8485-0FA6935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73C78-69EF-43B4-A312-67F3D01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95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2B688-6F6A-4DFB-A082-48D793FB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Moves the customer to finance, delivery and retailer handoff when they are 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5D7C4-3C53-4648-ADDD-F85A056D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assistant uses verified catalogue data and says when information is unavailable. It never invents price, specifications, finance eligibility or delivery details.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303EA-055E-4CEF-96CC-91688130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909618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7F62A-40E9-42D3-B218-1ADC06D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48DA4-BA20-4BA6-A705-50AF3629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Prototype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2710D-AF0E-41EB-9BD1-BB3D8F2F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customer moves from a vague need to a configured Volvo in one guided conversation.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757B9-A078-479A-8A33-6C25B920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D43B5-56E6-4391-8D6A-70684A8F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DA500-6694-444E-963B-6BAD4127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22134-DFA7-4620-9930-17D93EB3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44546-F313-478B-B954-924EDDA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“Family of five, city driving, cost-conscious.”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2E983-476F-4775-89F1-381472B2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065A3-23E7-4BE1-B447-3313367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D3FB5-6F65-4F97-80BE-415BD36B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Focused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A8C6E-D616-4287-BF66-8BDDD001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Ask only for a missing detail that changes the shortlist.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7EAE8-D633-4197-8A31-407A8A9B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3AE7A-8C09-4F3F-A154-B7B8C2C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53494-9EDA-44E9-AE90-09E4A9FE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Shortlist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2C1DE-6438-4E80-A4CA-03D5DC25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Compare suitable models with price, seats, range and charging.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6E7A6-B161-4C9C-8479-4F9DF578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C0A86-8A5D-414E-9362-9644C7A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3EF38-0026-4024-A18D-2CCE848A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486BE-B74F-481F-8D72-CCD4E92F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Choose model, then update colour, wheels or packages in chat.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E4B13-38DE-433C-9C99-16428C03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B50E6-323A-4C21-B1A3-5AE97C82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50EAF-6DE5-43AE-B229-4BD1A3E3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CAD10-56F5-4893-A1AB-6A3FB967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Move to finance, delivery and retailer handoff.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72607-806E-4B25-91D0-C8486EF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E4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120EF-9207-4181-8C9D-08B7630F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16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Example: “Take me to the next step” hides the full discovery chat and opens finance, delivery and retailer handoff. A compact order assistant remains available for contextual help.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608B4-FD51-4A42-BA14-156B916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532782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99068-FE2D-4B64-AFF5-75CD68F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41A07-C984-4440-A32F-0A14AFEE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impact and MVP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F353E-C9B8-4CDF-AB74-B47AF70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The MVP aims to reduce decision effort while keeping every recommendation transparent.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F15E4-7126-42F9-8BD4-30FF336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DC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9142F-6DA9-4E5F-9F11-BBE67922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2BF3-19CA-4947-A738-7319345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87699-3F7C-420B-A194-137E174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6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faster route from lifestyle need to a confident shortlist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AD7A7-9A1F-4809-91A3-7BB9864B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1E7C-1DAC-433E-B392-569C0ED1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Clearer trade-offs across price, seats, range and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40745-EBB1-4560-8B44-E990820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100BF-2744-475A-9DCE-156DB925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A calmer premium journey aligned with Scandinavian simplicity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A797A-8A54-44E5-A3FE-876EA5F1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Volvo Cars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BBCE5-5AA9-458F-998F-085EC12B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26192-EE68-4403-8B88-206ECEA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3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completed configurator journeys and retailer enquiries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05E22-E3B1-4F8A-898F-10FA7A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DC662-C3EA-4191-AADE-BB93ED76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38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Higher-quality retailer leads with needs and choices already captured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58874-361D-47CB-AB3B-36B87FE0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5B58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7F941-B79E-4A68-89D6-4244C0A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862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More relevant discovery of electrified models and Volvo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38E5A-CBB5-47C1-A667-05AE5DB6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572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5B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4F762-410A-4FD3-9E67-CDD7812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MVP success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050DB-2B6A-47D6-9549-B32BB3A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Shortlist reached  •  model selected  •  configuration changed  •  next-step progression  •  retailer enquiry prepared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5CF66-6346-4005-872C-01181D2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475"/>
                </a:solidFill>
                <a:latin typeface="Helvetica Neue"/>
                <a:ea typeface="Helvetica Neue"/>
                <a:cs typeface="Helvetica Neue"/>
              </a:rPr>
              <a:t>Volvo Cars UK  |  AI Configuration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246214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2026-09-06T19:32:29.1880000Z</dcterms:created>
  <dcterms:modified xsi:type="dcterms:W3CDTF">2026-09-06T19:32:29.1880000Z</dcterms:modified>
</coreProperties>
</file>