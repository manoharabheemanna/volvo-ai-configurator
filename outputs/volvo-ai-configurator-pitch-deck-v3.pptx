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484c3b78464754" /><Relationship Type="http://schemas.openxmlformats.org/officeDocument/2006/relationships/extended-properties" Target="/docProps/app.xml" Id="R9b38c32f1ba44210" /><Relationship Type="http://schemas.openxmlformats.org/officeDocument/2006/relationships/officeDocument" Target="/ppt/presentation.xml" Id="Rd2c475e7464747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b729ef795a4585"/>
  </p:sldMasterIdLst>
  <p:notesMasterIdLst>
    <p:notesMasterId xmlns:r="http://schemas.openxmlformats.org/officeDocument/2006/relationships" r:id="Rb2f13a6f95374744"/>
  </p:notesMasterIdLst>
  <p:sldIdLst>
    <p:sldId xmlns:r="http://schemas.openxmlformats.org/officeDocument/2006/relationships" id="256" r:id="R5884afada2624729"/>
    <p:sldId xmlns:r="http://schemas.openxmlformats.org/officeDocument/2006/relationships" id="257" r:id="Rb5ba01c929c6495a"/>
    <p:sldId xmlns:r="http://schemas.openxmlformats.org/officeDocument/2006/relationships" id="258" r:id="Rbcfcebdd07e34a2d"/>
    <p:sldId xmlns:r="http://schemas.openxmlformats.org/officeDocument/2006/relationships" id="259" r:id="R718e757fa676422a"/>
    <p:sldId xmlns:r="http://schemas.openxmlformats.org/officeDocument/2006/relationships" id="260" r:id="R6b7a026470594e5f"/>
    <p:sldId xmlns:r="http://schemas.openxmlformats.org/officeDocument/2006/relationships" id="261" r:id="Rd9e9e380818b40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89462a943949b7" /><Relationship Type="http://schemas.openxmlformats.org/officeDocument/2006/relationships/slideMaster" Target="/ppt/slideMasters/slideMaster1.xml" Id="R5fb729ef795a4585" /><Relationship Type="http://schemas.openxmlformats.org/officeDocument/2006/relationships/notesMaster" Target="/ppt/notesMasters/notesMaster1.xml" Id="Rb2f13a6f95374744" /><Relationship Type="http://schemas.openxmlformats.org/officeDocument/2006/relationships/presProps" Target="/ppt/presProps.xml" Id="Rde37081431a84077" /><Relationship Type="http://schemas.openxmlformats.org/officeDocument/2006/relationships/tableStyles" Target="/ppt/tableStyles.xml" Id="R3136e4458a8f4b0e" /><Relationship Type="http://schemas.openxmlformats.org/officeDocument/2006/relationships/slide" Target="/ppt/slides/slide1.xml" Id="R5884afada2624729" /><Relationship Type="http://schemas.openxmlformats.org/officeDocument/2006/relationships/slide" Target="/ppt/slides/slide2.xml" Id="Rb5ba01c929c6495a" /><Relationship Type="http://schemas.openxmlformats.org/officeDocument/2006/relationships/slide" Target="/ppt/slides/slide3.xml" Id="Rbcfcebdd07e34a2d" /><Relationship Type="http://schemas.openxmlformats.org/officeDocument/2006/relationships/slide" Target="/ppt/slides/slide4.xml" Id="R718e757fa676422a" /><Relationship Type="http://schemas.openxmlformats.org/officeDocument/2006/relationships/slide" Target="/ppt/slides/slide5.xml" Id="R6b7a026470594e5f" /><Relationship Type="http://schemas.openxmlformats.org/officeDocument/2006/relationships/slide" Target="/ppt/slides/slide6.xml" Id="Rd9e9e380818b40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b1ca4d07e145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9bc4e7d8f24a3c" /><Relationship Type="http://schemas.openxmlformats.org/officeDocument/2006/relationships/notesMaster" Target="/ppt/notesMasters/notesMaster1.xml" Id="R685112662d8542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480ecc29f54680" /><Relationship Type="http://schemas.openxmlformats.org/officeDocument/2006/relationships/notesMaster" Target="/ppt/notesMasters/notesMaster1.xml" Id="R670b203aae0347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bc1c39c6914b11" /><Relationship Type="http://schemas.openxmlformats.org/officeDocument/2006/relationships/notesMaster" Target="/ppt/notesMasters/notesMaster1.xml" Id="R2d3406fdc7cc40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198d1ba1d24a4f" /><Relationship Type="http://schemas.openxmlformats.org/officeDocument/2006/relationships/notesMaster" Target="/ppt/notesMasters/notesMaster1.xml" Id="R0514edc97fc644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b750b934384341" /><Relationship Type="http://schemas.openxmlformats.org/officeDocument/2006/relationships/notesMaster" Target="/ppt/notesMasters/notesMaster1.xml" Id="R09708d80d00947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bda1a1d3b94d52" /><Relationship Type="http://schemas.openxmlformats.org/officeDocument/2006/relationships/notesMaster" Target="/ppt/notesMasters/notesMaster1.xml" Id="Rcf5326d0ad3244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Course assignment deck. Product concept and prototype assumptions use the supplied Volvo Cars UK configurator brief. No external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supplied by the author. The customer journey steps summarise the existing configurator flow in the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groups and design principle come from the supplied product brief. Sustainability references are framed as customer interests, not quantified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 behaviour reflects the prototype implementation and proposed guardrails. No external data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described flow is demonstrated in the clickable prototype. Example customer language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Impact statements are expected outcomes to validate in an MVP. Success signals are proposed product metrics, not historical performance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9f67e7b9e146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3215e2378c477e" /><Relationship Type="http://schemas.openxmlformats.org/officeDocument/2006/relationships/slideLayout" Target="/ppt/slideLayouts/slideLayout1.xml" Id="Rfcf4c7c86d4949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f4c7c86d4949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d17d64125429a" /><Relationship Type="http://schemas.openxmlformats.org/officeDocument/2006/relationships/notesSlide" Target="/ppt/notesSlides/notesSlide1.xml" Id="Redddc83058314a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f66e7888a4195" /><Relationship Type="http://schemas.openxmlformats.org/officeDocument/2006/relationships/notesSlide" Target="/ppt/notesSlides/notesSlide2.xml" Id="R63fe7ebbb77e42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3732ddcaf4ad2" /><Relationship Type="http://schemas.openxmlformats.org/officeDocument/2006/relationships/notesSlide" Target="/ppt/notesSlides/notesSlide3.xml" Id="R5d771485926640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6866edd0540af" /><Relationship Type="http://schemas.openxmlformats.org/officeDocument/2006/relationships/notesSlide" Target="/ppt/notesSlides/notesSlide4.xml" Id="R8adfa661523842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df7f2f3ea4861" /><Relationship Type="http://schemas.openxmlformats.org/officeDocument/2006/relationships/notesSlide" Target="/ppt/notesSlides/notesSlide5.xml" Id="Rcf23772662b74c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c3b119bf14f4a" /><Relationship Type="http://schemas.openxmlformats.org/officeDocument/2006/relationships/notesSlide" Target="/ppt/notesSlides/notesSlide6.xml" Id="R85aa13f60ba84a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7E5D1-8883-47D9-B373-1C0E5E06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C5A1E-3B9C-472A-938F-9F387088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B5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3FB72-685F-4B07-8E4C-A84B61D7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952500"/>
            <a:ext cx="2286000" cy="4286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A9C9C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849C6-16F6-4221-B366-0AC90911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PRODUCT MANAGEMENT COURSE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6BBBC-532C-4F36-815D-5EB682B1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695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calmer way to choose and configure a Volvo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DEAE4-0B56-41B5-9DB1-74973E69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AI-guided discovery and configuration inside Volvo Cars UK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27FED-C820-4B47-9768-FF7A7CEF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5334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5B5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F991A-8F9D-42D3-9CB5-800E5F3C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Prototype pitch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5B0BA-91E6-4A50-BEE8-4F265EC9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One product. One P0 problem. One AI enhancement.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A703EB-A8F8-4FA0-BB77-95F2C281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1762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VOLVO</a:t>
            </a:r>
          </a:p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GUIDED</a:t>
            </a:r>
          </a:p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ASSISTANT</a:t>
            </a:r>
          </a:p>
        </p:txBody>
      </p:sp>
    </p:spTree>
    <p:extLst>
      <p:ext uri="{BB962C8B-B14F-4D97-AF65-F5344CB8AC3E}">
        <p14:creationId xmlns:p14="http://schemas.microsoft.com/office/powerpoint/2010/main" val="16407886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159C3-203C-40D8-89D8-2E5FEABA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4F25A-9993-4C46-ABCC-BAC1BF5A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P0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9A2DD-9E28-4382-A7EB-BAEEA85E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Customers face a high-stakes choice before they know which Volvo fits their life.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74FE9-CDB2-4264-8976-D53BEE8E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32849-8EDE-43C2-A4A2-522925FE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857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current configurator starts with fields. Customers start with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F95FB-458E-4E95-A5AD-B145708B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5191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 customer must make model, powertrain, trim, colour, wheel, package and finance decisions before they can assess whether the car suits them personally or financially.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DA27A-B50D-4164-A116-E7ED3735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75B5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5FDBE-F878-4198-84E3-88E59D02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431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07509-ABC5-4154-A935-8F3A1212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33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95E0B-DE9C-4FE2-A308-2AD9704E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90750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FE4E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73947-DB25-43A8-953E-78B16DA9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431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B463A-133C-4EBC-A150-8327561D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733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Powertrain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0D6F4-9352-419A-861F-7745F79D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FE4E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1CA2C4-FED5-459F-B719-6FBE7493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100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EB769-050B-460A-A575-F7D03127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00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49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Design choices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B7372-B036-400E-A53A-E1EDBAAC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57625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FE4E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55344-4EF5-4F8A-9E73-59205717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00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E039F-F9BD-43AD-9611-29B93409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400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7168D-B2B3-4791-86D3-8BD46D03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Result: decision overload, repeated back-and-forth, and abandonment before retailer handoff.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2F0074-D0D9-48AF-A139-332BCEE8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Volvo Cars UK  |  AI Configuration Assistant</a:t>
            </a:r>
          </a:p>
        </p:txBody>
      </p:sp>
    </p:spTree>
    <p:extLst>
      <p:ext uri="{BB962C8B-B14F-4D97-AF65-F5344CB8AC3E}">
        <p14:creationId xmlns:p14="http://schemas.microsoft.com/office/powerpoint/2010/main" val="12434795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857BE5-629C-4D1B-B8D8-49949904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A94BF-5DB9-4493-8140-A8372DD0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Who the assistant serves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9AB25-D02F-45F0-A924-7B9CC0C0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Premium Volvo customers want confident guidance without a sales-heavy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FFDF0-D2E4-4C57-9B7B-B3E452D7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655FF-95E7-455A-85F1-7B31482A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DF358-8E82-4192-8479-94D72BB2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Premium buyers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B40EB-5D56-4B6F-860D-155C9C9C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Expect transparent guidance before a high-value purchase.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202AC-9CDF-4229-8ED1-E8710D62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62300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996B3-FBEE-40D4-9075-45ECDC2B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0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FBA43-18CF-4223-8B7B-7B4F2798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813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Existing Volvo customers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D3426-EF8F-4C7A-92BE-1F30AE0D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623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Want to move into electric driving while retaining familiar safety and comfort.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C1D7C-E3B5-469C-984B-11C272B9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52925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87F97-E71F-4EF4-ABD6-AC4B3787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B042C-A0BF-4B54-94AE-BA4E0D53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Families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3C8ED-60F2-421E-871C-75AFE1E8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Need space and confidence without a feature-heavy decision process.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5E0A2-7289-44B7-B282-03911D58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43550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25520-54ED-49B3-98F6-143535E3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FEC3D-6A38-4EBD-A72C-6F396912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Sustainability-minded customers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ACB87-9B3B-4441-87C6-84BDC9B5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717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Assess electrification, charging practicality and energy use.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44E00-3A4F-437B-AECC-EB123B93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162300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2FC50E-007D-4669-A612-57004DDB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00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8B8AFD-733F-4B26-96E6-DA6B3052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813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Finance explorers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814A77-63C4-46DF-8E46-8FAE46CE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7623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Need help comparing purchase, finance and lease routes.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674651-1D2F-43B4-99A6-C3E7C4A2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52925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6168F2-592E-45C0-887F-78F2E980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Design principle: guidance should feel calm, personal and clear, reflecting Volvo’s Scandinavian design values.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EA3C35-6941-4A84-8151-45F7FE57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Volvo Cars UK  |  AI Configuration Assistant</a:t>
            </a:r>
          </a:p>
        </p:txBody>
      </p:sp>
    </p:spTree>
    <p:extLst>
      <p:ext uri="{BB962C8B-B14F-4D97-AF65-F5344CB8AC3E}">
        <p14:creationId xmlns:p14="http://schemas.microsoft.com/office/powerpoint/2010/main" val="14984614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3359DA-F446-48EF-90E1-9ABC1585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544C2-DE98-4E42-B418-67424BAD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AI-guided configuration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1037C-3D0C-41AC-8EAD-54EF76A2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 conversational layer turns natural-language needs into verified Volvo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E730A-1E29-4E35-B93D-FB299479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789FC-8903-43BD-A5D1-09DB8E35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333625" cy="242887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5F5F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8E1CC-0910-4CD1-A519-B7F5293E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6677C-501D-4736-9969-7CFF4497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Understand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15E3F-4103-4C4C-AE3C-AFB8257B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07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Captures family size, driving needs, budget, design taste and electrification preferences.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851C9-BAA0-477D-9968-820D5A86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33625"/>
            <a:ext cx="2333625" cy="242887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75B5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5F830-EB0A-40F1-9A32-1AF95BBC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71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BDDE9-4EF7-4580-B0ED-D619F6AE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95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Recommend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711E70-0FAD-47F0-A96F-2EDCA1BA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385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2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7F0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7F0EF"/>
                </a:solidFill>
                <a:latin typeface="Helvetica Neue"/>
                <a:ea typeface="Helvetica Neue"/>
                <a:cs typeface="Helvetica Neue"/>
              </a:rPr>
              <a:t>Matches stated needs to catalogue data, explains trade-offs and asks only useful follow-up questions.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7D522-E9BC-4A16-B495-AA0FFA5A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2333625" cy="242887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5F5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4F0FC-6060-457F-85BC-4798E37B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4916D-723B-4BC1-AD3D-EBBEA37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95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Configure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5E196-70AA-40D5-A8E7-B490C2E9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Applies trim, colour, wheel and package choices while preserving customer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ECDE1-92B9-4118-8938-34C0E8D1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33625"/>
            <a:ext cx="2333625" cy="242887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5F5F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128E2-7B39-4F56-A85C-26B9B9C7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71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094FC-3862-4D4E-A5FF-9F9B7912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95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Continue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19FB43-8ECE-4FD8-9DC8-18CFC6F7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385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Moves the customer to finance, delivery and retailer handoff when they are ready.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D9877B-3923-4EA3-9A66-A76ADF1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6257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39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assistant uses verified catalogue data and says when information is unavailable. It never invents price, specifications, finance eligibility or delivery details.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A16560-E6BC-4735-925E-EE738B83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Volvo Cars UK  |  AI Configuration Assistant</a:t>
            </a:r>
          </a:p>
        </p:txBody>
      </p:sp>
    </p:spTree>
    <p:extLst>
      <p:ext uri="{BB962C8B-B14F-4D97-AF65-F5344CB8AC3E}">
        <p14:creationId xmlns:p14="http://schemas.microsoft.com/office/powerpoint/2010/main" val="9334869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10FF54-CE2A-4E86-80CD-2E153410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03E90-3B9C-4F71-B5F2-74D10A8A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Prototype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975A8-5F73-4B17-9EFB-60B0B7BB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 customer moves from a vague need to a configured Volvo in one guided conversation.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8804C-3DC8-42F8-9D15-C44B8A64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E1014-FB18-415C-98F2-031ED940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F9B85-CF40-4294-A1E5-F8C72042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2FB00-F95C-45B1-BEB6-0D952681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Customer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E3370-3A9A-4F9B-8E34-1593EDA9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“Family of five, city driving, cost-conscious.”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DFD2E-E87A-4232-80B2-958EDFCD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66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74AE2-4DE1-4E2B-8F66-61E21992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28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E5C51-3812-444E-8EE0-C8A6F33B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146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274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Focused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D7F7C-6F15-40B0-A178-E0F1F26B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6385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Ask only for a missing detail that changes the shortlist.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CE613-E8B8-4F54-BE62-D4D2DEAB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B80528-4CE4-4BBE-B7D6-831A8027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28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D9B02-1C3A-4172-AD2C-12CA1E97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146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Shortlist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6F756A-8765-47CF-B825-268AA630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Compare suitable models with price, seats, range and charging.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48ABAA-E14D-4427-A618-53E1604E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66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50169C-837C-4C16-9041-A0C60B58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28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B7A919-7AC6-489C-8086-DACCA394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146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Configuration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E62554-4957-46A1-BAF2-625FA4F8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385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Choose model, then update colour, wheels or packages in chat.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6CA118-CDE7-404A-9467-89DB660E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25407C-8985-4050-AC68-80181EC8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5B5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EB66C3-9B18-43D5-9B32-9F85837A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146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Next step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C3B782-866F-48A3-A1B5-6EA2CFBD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Move to finance, delivery and retailer handoff.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581490-97B0-4F3C-A985-FD772CF6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FE4E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53D39E-043A-494F-814D-E629BE58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816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Example: “Take me to the next step” hides the full discovery chat and opens finance, delivery and retailer handoff. A compact order assistant remains available for contextual help.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D4B471-13AC-409A-B92A-FDC71BE3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Volvo Cars UK  |  AI Configuration Assistant</a:t>
            </a:r>
          </a:p>
        </p:txBody>
      </p:sp>
    </p:spTree>
    <p:extLst>
      <p:ext uri="{BB962C8B-B14F-4D97-AF65-F5344CB8AC3E}">
        <p14:creationId xmlns:p14="http://schemas.microsoft.com/office/powerpoint/2010/main" val="16159967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A96678-2D2C-4A06-9BD7-E6BF5A24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8AE57-2695-44DF-872E-FFFD39B4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Expected impact and MVP success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712F9-60FE-43C7-849F-80565920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The MVP aims to reduce decision effort while keeping every recommendation transparent.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4EE08-5330-4813-9E73-D8AEF79D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ECDF1-74FB-4356-9600-958A5857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Customer impact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42A6C-9F2E-4468-BB5B-969F13FB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9760A-5D42-43C8-B580-22FCDEA2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908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6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 faster route from lifestyle need to a confident shortlist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F7996-98E0-44BD-AE55-FA4EBD0B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F1467-41BB-4489-946F-FDF7888A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385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Clearer trade-offs across price, seats, range and configuration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4C1D3-ACA6-47CD-BD46-E4224797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8310A-6F65-4328-AA7B-DF0FDF8D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862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 calmer premium journey aligned with Scandinavian simplicity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DD85F-E457-4DB8-9325-53FD1193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Volvo Cars 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3DD23-9038-4783-AA93-6D9AD955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0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CDD72-AD19-4039-9753-19A130CB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908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63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More completed configurator journeys and retailer enquiries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CF12A-AAB7-4355-8B45-3A2FFDA9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48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27B98-D4F6-4181-A38E-B063E524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385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Higher-quality retailer leads with needs and choices already captured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404CE2-EB77-4856-B22E-21E84B0C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95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D8801-199D-47AB-B5C3-3ACF85C1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862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More relevant discovery of electrified models and Volvo 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035F80-FFFE-43CF-B4C1-6AF6FB19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5B5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C884F5-30B2-4A33-AB47-17E96385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MVP success signals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815647-037A-4D94-B1CD-54C48449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245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Shortlist reached  •  model selected  •  configuration changed  •  next-step progression  •  retailer enquiry prepared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0539A-66E1-4798-9B64-482A98F4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Volvo Cars UK  |  AI Configuration Assistant</a:t>
            </a:r>
          </a:p>
        </p:txBody>
      </p:sp>
    </p:spTree>
    <p:extLst>
      <p:ext uri="{BB962C8B-B14F-4D97-AF65-F5344CB8AC3E}">
        <p14:creationId xmlns:p14="http://schemas.microsoft.com/office/powerpoint/2010/main" val="4538459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2026-09-06T19:31:04.7980000Z</dcterms:created>
  <dcterms:modified xsi:type="dcterms:W3CDTF">2026-09-06T19:31:04.7980000Z</dcterms:modified>
</coreProperties>
</file>