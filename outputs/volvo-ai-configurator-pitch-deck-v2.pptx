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988604a6b4296" /><Relationship Type="http://schemas.openxmlformats.org/officeDocument/2006/relationships/extended-properties" Target="/docProps/app.xml" Id="R1c0858e0a3514846" /><Relationship Type="http://schemas.openxmlformats.org/officeDocument/2006/relationships/officeDocument" Target="/ppt/presentation.xml" Id="Rc1b77cf4d50142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64e6dec5748d3"/>
  </p:sldMasterIdLst>
  <p:notesMasterIdLst>
    <p:notesMasterId xmlns:r="http://schemas.openxmlformats.org/officeDocument/2006/relationships" r:id="R97f0ef56d2b94f86"/>
  </p:notesMasterIdLst>
  <p:sldIdLst>
    <p:sldId xmlns:r="http://schemas.openxmlformats.org/officeDocument/2006/relationships" id="256" r:id="R57d1b1ac6e3e4e3d"/>
    <p:sldId xmlns:r="http://schemas.openxmlformats.org/officeDocument/2006/relationships" id="257" r:id="Rf23ff5c5a6d84118"/>
    <p:sldId xmlns:r="http://schemas.openxmlformats.org/officeDocument/2006/relationships" id="258" r:id="Rbd51a3c86dfa4ad3"/>
    <p:sldId xmlns:r="http://schemas.openxmlformats.org/officeDocument/2006/relationships" id="259" r:id="R38eabe3255594d8f"/>
    <p:sldId xmlns:r="http://schemas.openxmlformats.org/officeDocument/2006/relationships" id="260" r:id="Rf72e536fd43049a4"/>
    <p:sldId xmlns:r="http://schemas.openxmlformats.org/officeDocument/2006/relationships" id="261" r:id="Rdb0d3c9b2c8042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02788439254526" /><Relationship Type="http://schemas.openxmlformats.org/officeDocument/2006/relationships/slideMaster" Target="/ppt/slideMasters/slideMaster1.xml" Id="R10e64e6dec5748d3" /><Relationship Type="http://schemas.openxmlformats.org/officeDocument/2006/relationships/notesMaster" Target="/ppt/notesMasters/notesMaster1.xml" Id="R97f0ef56d2b94f86" /><Relationship Type="http://schemas.openxmlformats.org/officeDocument/2006/relationships/presProps" Target="/ppt/presProps.xml" Id="R6ae37d112c1043c5" /><Relationship Type="http://schemas.openxmlformats.org/officeDocument/2006/relationships/tableStyles" Target="/ppt/tableStyles.xml" Id="Rb0bd349e0aed4797" /><Relationship Type="http://schemas.openxmlformats.org/officeDocument/2006/relationships/slide" Target="/ppt/slides/slide1.xml" Id="R57d1b1ac6e3e4e3d" /><Relationship Type="http://schemas.openxmlformats.org/officeDocument/2006/relationships/slide" Target="/ppt/slides/slide2.xml" Id="Rf23ff5c5a6d84118" /><Relationship Type="http://schemas.openxmlformats.org/officeDocument/2006/relationships/slide" Target="/ppt/slides/slide3.xml" Id="Rbd51a3c86dfa4ad3" /><Relationship Type="http://schemas.openxmlformats.org/officeDocument/2006/relationships/slide" Target="/ppt/slides/slide4.xml" Id="R38eabe3255594d8f" /><Relationship Type="http://schemas.openxmlformats.org/officeDocument/2006/relationships/slide" Target="/ppt/slides/slide5.xml" Id="Rf72e536fd43049a4" /><Relationship Type="http://schemas.openxmlformats.org/officeDocument/2006/relationships/slide" Target="/ppt/slides/slide6.xml" Id="Rdb0d3c9b2c80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0ed923bea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bfe02d8504b70" /><Relationship Type="http://schemas.openxmlformats.org/officeDocument/2006/relationships/notesMaster" Target="/ppt/notesMasters/notesMaster1.xml" Id="R5e3604ce0d76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ee91ecf7644b0" /><Relationship Type="http://schemas.openxmlformats.org/officeDocument/2006/relationships/notesMaster" Target="/ppt/notesMasters/notesMaster1.xml" Id="R4c43ec71a318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9e1682cd02412d" /><Relationship Type="http://schemas.openxmlformats.org/officeDocument/2006/relationships/notesMaster" Target="/ppt/notesMasters/notesMaster1.xml" Id="Rd6be1f6157bb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98d329b21470e" /><Relationship Type="http://schemas.openxmlformats.org/officeDocument/2006/relationships/notesMaster" Target="/ppt/notesMasters/notesMaster1.xml" Id="R46e814cea81a4e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5a9d69db64027" /><Relationship Type="http://schemas.openxmlformats.org/officeDocument/2006/relationships/notesMaster" Target="/ppt/notesMasters/notesMaster1.xml" Id="Rbcba890af40f43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62aacd1ffe46df" /><Relationship Type="http://schemas.openxmlformats.org/officeDocument/2006/relationships/notesMaster" Target="/ppt/notesMasters/notesMaster1.xml" Id="Rf6b3219dcb88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assignment deck. Product concept and prototype assumptions use the supplied Volvo Cars UK configurator brief. No external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supplied by the author. The customer journey steps summarise the existing configurator flow in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groups and design principle come from the supplied product brief. Sustainability references are framed as customer interests, not quantified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behaviour reflects the prototype implementation and proposed guardrails. No external data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described flow is demonstrated in the clickable prototype. Example customer language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are expected outcomes to validate in an MVP. Success signals are proposed product metrics, not historical performance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db975906742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50ceb72e044a15" /><Relationship Type="http://schemas.openxmlformats.org/officeDocument/2006/relationships/slideLayout" Target="/ppt/slideLayouts/slideLayout1.xml" Id="Re2b38cb449d240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38cb449d240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8cd7134bc4b58" /><Relationship Type="http://schemas.openxmlformats.org/officeDocument/2006/relationships/notesSlide" Target="/ppt/notesSlides/notesSlide1.xml" Id="R8b9a3dd96af044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4c2d2de454c0c" /><Relationship Type="http://schemas.openxmlformats.org/officeDocument/2006/relationships/notesSlide" Target="/ppt/notesSlides/notesSlide2.xml" Id="Rc91187ea9625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7f5c2cc1d4a6c" /><Relationship Type="http://schemas.openxmlformats.org/officeDocument/2006/relationships/notesSlide" Target="/ppt/notesSlides/notesSlide3.xml" Id="R9927048759074b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a21fd7d3d4b83" /><Relationship Type="http://schemas.openxmlformats.org/officeDocument/2006/relationships/notesSlide" Target="/ppt/notesSlides/notesSlide4.xml" Id="R3474bf4363f7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bb424ae9c4f10" /><Relationship Type="http://schemas.openxmlformats.org/officeDocument/2006/relationships/notesSlide" Target="/ppt/notesSlides/notesSlide5.xml" Id="R80e70590680e46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3ce32707245fb" /><Relationship Type="http://schemas.openxmlformats.org/officeDocument/2006/relationships/notesSlide" Target="/ppt/notesSlides/notesSlide6.xml" Id="R38849acfb2fa40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08828-C058-4AFE-8BF5-6E2B8568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41D9A-C170-4F22-8C0D-5C439735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A83AF-7CB1-4D69-9A04-1140BAF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52500"/>
            <a:ext cx="2286000" cy="4286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A9C9C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8C415-3034-44CC-99DD-8C409DEB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PRODUCT MANAGEMENT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6B4A6-82D5-44EF-B7FA-37FE9F44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calmer way to choose and configure a Volvo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F1267-1EDE-4B2A-A040-308E761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AI-guided discovery and configuration inside Volvo Cars 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39D02-789C-4A1E-BA6E-BA83F429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91ED9-7B5B-4FCE-846E-67455031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582CD-065C-4644-B0D6-438915CE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One product. One P0 problem. One AI enhancement.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9D683-4540-4193-82D4-A1499EDE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762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GUIDED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429234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9111E-21D1-467F-A6C8-65E638DF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DD70E-6A0C-4998-A104-56B271E0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P0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467EE-5FA9-482A-BD46-5A4E2A18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Customers face a high-stakes choice before they know which Volvo fits their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8A9BE-680E-4478-B78F-0070B957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4AECE-38AD-480E-A6A7-64BA879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current configurator starts with fields. Customers start with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115BC-D695-4057-A047-A5828ECB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191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must make model, powertrain, trim, colour, wheel, package and finance decisions before they can assess whether the car suits them personally or financially.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7A242-2A05-45B2-81D4-831B0B2C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362E-7C46-43E2-8B7C-99176C4D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9B771-B85C-4017-B1DA-9A9FD6BC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C3D29-0200-443C-BCC0-DE854D6D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781DC-A3E4-4B11-88B9-ECF5156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1107-CDF3-4034-AB38-742CF7B5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Powertrain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4C1C6-32E2-43BC-83D2-CB39281F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AA21D-38E2-4B61-A1CD-9CB69465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E6157-3D39-4EED-8345-75FEB4B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9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052A1-CF41-411C-8C4E-F469E88F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A8194-EF62-432F-B681-1D604F7C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EA330-8585-43B5-B253-E537A59E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3367D-0E32-4E3C-9717-A458B71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Result: decision overload, repeated back-and-forth, and abandonment before retailer handoff.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ED77C-374E-4244-8744-4B2776A8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942757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EA1A6-1067-42DF-81D8-DCC2BF22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F282F-7E3B-473A-9DAA-C6FB87E0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Who the assistant serves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A12DB-0174-4213-9C07-F455505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Premium Volvo customers want confident guidance without a sales-heavy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0E463-2172-4082-9AF8-41F4AC75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A621F-A25E-46E8-A45C-360D1A16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A5C0F-8B22-4FE0-8D31-42B3B6B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Premium buyers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F86EB-ED7A-4015-9FFC-8CC78FC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Expect transparent guidance before a high-value purchase.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76F8C-AFC9-4170-BB75-48E8DEF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6ACC0-0F52-4F05-BCD3-A136CE65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21D0A-C4DA-4016-8D7A-24A36EAF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Volvo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2D5B4-5F83-45E0-8A72-7798C1B6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Want to move into electric driving while retaining familiar safety and comfort.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A1710-7CFC-4235-8FBA-893AA6D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B0462-0FAD-4183-A771-FD761FC1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0B651-6BDF-4DC8-AD79-6B0B510C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Families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6E590-01F9-49F1-8E00-1DCCA139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space and confidence without a feature-heavy decision process.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4D5DD-C18A-4710-AAA8-3CCD9D2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3FBF8-18CF-43A9-997E-BE34A06D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B373A-35DF-4553-86C6-B209519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Sustainability-minded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749D3-0DC0-47F6-8263-8F806AF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Assess electrification, charging practicality and energy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26F75-5546-4BB6-869D-A3572D8E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25C2F-E43F-4330-B8BE-CF70DB2B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5993B-0AE1-495F-8A88-BA86170B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explorers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DC329-7949-4026-90C7-0ECA1F9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help comparing purchase, finance and lease routes.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F220E-682E-4749-A22A-24A5D81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8B3A2-595B-4D6A-BC7D-AB8C8B6F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Design principle: guidance should feel calm, personal and clear, reflecting Volvo’s Scandinavian design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0A9DA-EEF1-40E8-AC0A-2F6A04B3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938208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C12DD-D029-4F4B-ACD7-B1CB59E0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10059-CBBC-4B56-A172-C4F88DF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AI-guided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CBB26-907E-4D4F-AB6B-B9E4D467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conversational layer turns natural-language needs into verified Volvo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226F8-5D52-4838-9FEB-795594D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17AEF-CB57-4C3F-9751-D208FFFB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8DD37-CF15-4CAC-A309-E877503B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825A3-D895-40DC-B57E-35D0F0E2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5D654-9705-4F25-A3C3-58648E60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7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Captures family size, driving needs, budget, design taste and electrification preferences.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20795-6517-474B-A673-B1FF91D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3B046-B3EC-4CA3-A9F7-A1B6729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CC8DC-13FD-430B-8B7A-5DD79C0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0772C-AE2E-41E9-97B5-CA27DBE1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rPr>
              <a:t>Matches stated needs to catalogue data, explains trade-offs and asks only useful follow-up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4FAE1-0D04-4E4E-B9F5-C1EF7E32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149AE-61C4-4290-A171-DB83974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02273-442A-429D-B03B-FB693B9B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79307-2EE1-4E34-8F70-7B975658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Applies trim, colour, wheel and package choices while preserving customer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29694-9159-4561-A7F8-C51883B4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F7054-FDCD-4868-B80F-435F246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D60EA-8B2A-4ED1-AA11-B44D7FC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D4945-3F86-4423-B77B-56DA62F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Moves the customer to finance, delivery and retailer handoff when they are 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7F8B2-F9F3-49E0-BD1A-52B7BA7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assistant uses verified catalogue data and says when information is unavailable. It never invents price, specifications, finance eligibility or delivery details.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ADB51-EC61-49FC-BEA1-30DACE7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2096257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7AEA8-0B5E-48C6-9530-93D98DB3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E0F23-C426-4069-AE94-46120EA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E4FB6-B492-4044-A419-EDB17C12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moves from a vague need to a configured Volvo in one guided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842EF-926A-4039-9F65-57D47B8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6CBA-279D-4AC8-BCF9-0B1C2E8E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6CA6-E6FC-4923-9788-1A5FD90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4952B-6633-4FA2-9B60-5369FBD3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161C1-7EB0-43ED-A7A7-1B83AD2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“Family of five, city driving, cost-conscious.”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06C28-96C2-4648-BFDC-0A715E2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734C9-EE3E-48E3-9827-37C6B975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BEBD0-33BF-4ACE-A2E0-A197D16A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Focused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6038D-3462-430C-80DB-238BE1DD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Ask only for a missing detail that changes the shortlist.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2666E-DF58-45A8-A28C-07112520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AC8AF-D40A-49A6-A2C6-67F7C8D6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BC8AF-52F7-4599-A7A6-761372E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Shortlist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FFC2D-7D57-4AB8-AD29-29C01DC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Compare suitable models with price, seats, range and charging.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649FD-5EF6-439D-851E-8102A853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3E57D-E9C0-4DFE-B6DC-E553E042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D457D-606A-4D9A-B114-ED48D02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C0AD2-9D09-4DD3-898B-D746C52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Choose model, then update colour, wheels or packages in chat.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59D06-2584-45CB-88A0-BF1061B4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D76A7-259F-4CC5-AB39-E2190E7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D2A73-A32F-4D92-997F-A858715F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B6356-E1A8-438E-A0F0-EEF54E44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 to finance, delivery and retailer handoff.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5D40F-58BC-4775-BB9D-9772AE4B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6EFE2-BAA7-4688-A7BE-2A1934F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2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moment: “Take me to the next step” hides the full discovery chat and opens finance, delivery and retailer handoff. A compact order assistant remains available for contextual help.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0568E-522C-4291-991C-2841212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954366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FFCBD-A803-496E-801B-F04FEF8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0D12A-0F33-4E0C-92D0-55FC6D21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impact and MVP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069DD-BE43-4470-8881-596A9DC4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The MVP aims to reduce decision effort while keeping every recommendation transparent.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5D08C-83B1-42D4-9126-AFE3BEA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D20A1-6C8F-4507-B26A-B7145953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306BE-843C-4767-ACD5-D5B600D5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70921-DBF2-4354-AC28-4F862EB5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6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faster route from lifestyle need to a confident shortlist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93345-4B78-4FA9-8A62-6157631D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23FDB-8D0F-46C1-BFC8-F6212429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Clearer trade-offs across price, seats, range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CCAC1-27C3-4A34-905F-198EB41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854A6-CA2C-409D-82E5-0A25988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calmer premium journey aligned with Scandinavian simplicity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B72A4-89A3-44A5-931E-263E0C8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 Cars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AB3AC-9D0D-4E85-B575-CBA167E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71E59-4AA4-40C9-8BF9-8DCA07E2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3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completed configurator journeys and retailer enquiries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17C32-CE70-4E6C-9012-648B11B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71DD4-AE81-4C6F-9DCD-1F8BC3B5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38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Higher-quality retailer leads with needs and choices already captured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C2EB1-85BF-43C2-BFA6-C8B7102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A272F-D5AD-4CA8-A988-00C2B247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862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relevant discovery of electrified models and Volvo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F4F60-5624-4BC5-AEA1-A6B6ABD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5DC97-3700-486F-8A7D-6B72DE35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MVP success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95231-3D58-4BE3-BE58-DE5A095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Shortlist reached  •  model selected  •  configuration changed  •  next-step progression  •  retailer enquiry prepared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1BC06-E232-4DBE-B576-D1B82E10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34567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2026-09-06T19:23:53.5730000Z</dcterms:created>
  <dcterms:modified xsi:type="dcterms:W3CDTF">2026-09-06T19:23:53.5730000Z</dcterms:modified>
</coreProperties>
</file>